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a287354ef74f6e" /><Relationship Type="http://schemas.openxmlformats.org/officeDocument/2006/relationships/extended-properties" Target="/docProps/app.xml" Id="Rb19242b7c169416a" /><Relationship Type="http://schemas.openxmlformats.org/officeDocument/2006/relationships/officeDocument" Target="/ppt/presentation.xml" Id="Rf93b239e0e5048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204fd49cf546e1"/>
  </p:sldMasterIdLst>
  <p:notesMasterIdLst>
    <p:notesMasterId xmlns:r="http://schemas.openxmlformats.org/officeDocument/2006/relationships" r:id="Rc3d8c9576ab14d7d"/>
  </p:notesMasterIdLst>
  <p:sldIdLst>
    <p:sldId xmlns:r="http://schemas.openxmlformats.org/officeDocument/2006/relationships" id="256" r:id="R42fe50e143ec4aa8"/>
    <p:sldId xmlns:r="http://schemas.openxmlformats.org/officeDocument/2006/relationships" id="257" r:id="R1f8b77fa27c74dde"/>
    <p:sldId xmlns:r="http://schemas.openxmlformats.org/officeDocument/2006/relationships" id="258" r:id="Ra6bb6495b0ee487d"/>
    <p:sldId xmlns:r="http://schemas.openxmlformats.org/officeDocument/2006/relationships" id="259" r:id="Rdc247274d95b41ff"/>
    <p:sldId xmlns:r="http://schemas.openxmlformats.org/officeDocument/2006/relationships" id="260" r:id="R1abdd32db1b54653"/>
    <p:sldId xmlns:r="http://schemas.openxmlformats.org/officeDocument/2006/relationships" id="261" r:id="Rabdce6711a994d78"/>
    <p:sldId xmlns:r="http://schemas.openxmlformats.org/officeDocument/2006/relationships" id="262" r:id="R868f11a9338a4872"/>
    <p:sldId xmlns:r="http://schemas.openxmlformats.org/officeDocument/2006/relationships" id="263" r:id="R5202526192e04ae2"/>
    <p:sldId xmlns:r="http://schemas.openxmlformats.org/officeDocument/2006/relationships" id="264" r:id="Rd25c9f51783840ec"/>
    <p:sldId xmlns:r="http://schemas.openxmlformats.org/officeDocument/2006/relationships" id="265" r:id="Rd80d474a8c154f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4a4917744a4f7e" /><Relationship Type="http://schemas.openxmlformats.org/officeDocument/2006/relationships/slideMaster" Target="/ppt/slideMasters/slideMaster1.xml" Id="Re1204fd49cf546e1" /><Relationship Type="http://schemas.openxmlformats.org/officeDocument/2006/relationships/notesMaster" Target="/ppt/notesMasters/notesMaster1.xml" Id="Rc3d8c9576ab14d7d" /><Relationship Type="http://schemas.openxmlformats.org/officeDocument/2006/relationships/presProps" Target="/ppt/presProps.xml" Id="Rbfa2c77ddd0c4d37" /><Relationship Type="http://schemas.openxmlformats.org/officeDocument/2006/relationships/tableStyles" Target="/ppt/tableStyles.xml" Id="R45d7fb026f18483f" /><Relationship Type="http://schemas.openxmlformats.org/officeDocument/2006/relationships/slide" Target="/ppt/slides/slide1.xml" Id="R42fe50e143ec4aa8" /><Relationship Type="http://schemas.openxmlformats.org/officeDocument/2006/relationships/slide" Target="/ppt/slides/slide2.xml" Id="R1f8b77fa27c74dde" /><Relationship Type="http://schemas.openxmlformats.org/officeDocument/2006/relationships/slide" Target="/ppt/slides/slide3.xml" Id="Ra6bb6495b0ee487d" /><Relationship Type="http://schemas.openxmlformats.org/officeDocument/2006/relationships/slide" Target="/ppt/slides/slide4.xml" Id="Rdc247274d95b41ff" /><Relationship Type="http://schemas.openxmlformats.org/officeDocument/2006/relationships/slide" Target="/ppt/slides/slide5.xml" Id="R1abdd32db1b54653" /><Relationship Type="http://schemas.openxmlformats.org/officeDocument/2006/relationships/slide" Target="/ppt/slides/slide6.xml" Id="Rabdce6711a994d78" /><Relationship Type="http://schemas.openxmlformats.org/officeDocument/2006/relationships/slide" Target="/ppt/slides/slide7.xml" Id="R868f11a9338a4872" /><Relationship Type="http://schemas.openxmlformats.org/officeDocument/2006/relationships/slide" Target="/ppt/slides/slide8.xml" Id="R5202526192e04ae2" /><Relationship Type="http://schemas.openxmlformats.org/officeDocument/2006/relationships/slide" Target="/ppt/slides/slide9.xml" Id="Rd25c9f51783840ec" /><Relationship Type="http://schemas.openxmlformats.org/officeDocument/2006/relationships/slide" Target="/ppt/slides/slide10.xml" Id="Rd80d474a8c154f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3e01e0d59d40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f0c51b8bfc4b6e" /><Relationship Type="http://schemas.openxmlformats.org/officeDocument/2006/relationships/notesMaster" Target="/ppt/notesMasters/notesMaster1.xml" Id="Rf3bb29cd47754a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d3c1f4df1e4644" /><Relationship Type="http://schemas.openxmlformats.org/officeDocument/2006/relationships/notesMaster" Target="/ppt/notesMasters/notesMaster1.xml" Id="R82562419225f4b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7c587c07a04dde" /><Relationship Type="http://schemas.openxmlformats.org/officeDocument/2006/relationships/notesMaster" Target="/ppt/notesMasters/notesMaster1.xml" Id="Ra7d35f4f1e8d4a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f37cdfeb0d4f4f" /><Relationship Type="http://schemas.openxmlformats.org/officeDocument/2006/relationships/notesMaster" Target="/ppt/notesMasters/notesMaster1.xml" Id="Rdf9740f8117e41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e3e9fccba04165" /><Relationship Type="http://schemas.openxmlformats.org/officeDocument/2006/relationships/notesMaster" Target="/ppt/notesMasters/notesMaster1.xml" Id="R81d1a55ba5524d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f1698cc13b46ee" /><Relationship Type="http://schemas.openxmlformats.org/officeDocument/2006/relationships/notesMaster" Target="/ppt/notesMasters/notesMaster1.xml" Id="R44a84d04353944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45c01092ae48c9" /><Relationship Type="http://schemas.openxmlformats.org/officeDocument/2006/relationships/notesMaster" Target="/ppt/notesMasters/notesMaster1.xml" Id="Ra17091736f6c45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0988af12ae4dd3" /><Relationship Type="http://schemas.openxmlformats.org/officeDocument/2006/relationships/notesMaster" Target="/ppt/notesMasters/notesMaster1.xml" Id="R4be7eaddd4d342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17ae93d8c42c8" /><Relationship Type="http://schemas.openxmlformats.org/officeDocument/2006/relationships/notesMaster" Target="/ppt/notesMasters/notesMaster1.xml" Id="R7c4c69d5702042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b0224d98ba4094" /><Relationship Type="http://schemas.openxmlformats.org/officeDocument/2006/relationships/notesMaster" Target="/ppt/notesMasters/notesMaster1.xml" Id="R0072aba4382d40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Flexiple GCC Statistics, accessed October 2026. Product concept and prototype created for the Flexiple Product Intern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https://flexiple.com/gcc/statistics; https://community.nasscom.in/index.php/communities/nasscom-insights/india-gcc-landscape-report-5-year-journey?page=7. Counts have distinct units and should not be compared as a single census.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product synthesis, informed by the assignment context, Flexiple GCC Statistics and official state policy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Opportunity assessment is a product hypothesis, not a market-size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architecture reflects the existing GCC Atlas working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user and workflow are product hypotheses designed around the existing prototype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functionality verified by automated test suite: 31 tests passed. Production build could not complete in this environment because Turbopack could not bind an internal local 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Positioning is a product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Moat model is an inference from the platform design and market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and success metric are recommendations, not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5c0e0b83e48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6290e125648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abdab832f49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5bb2cc49c4e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e7e385d5344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483e287ad40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A40B23-96E0-48A8-8B8E-BB48AA419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BD4C06-D13A-4DEC-A001-CBC1902E14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1B1CFE-3C86-479D-B9FE-8AA6C65375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A5445D-3CD5-4BDD-801E-302A37F88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F68598-F09E-487A-A384-0CA18A3831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550231-9240-406D-9E31-FA75A1D84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2C6C17-DB33-41C0-BFDB-68CDAF806B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C605DD-A95E-4D6A-8DF3-B65CDDF456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B17C42-3A2B-4695-BA8E-CB3A12A5D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C306E7-2EF3-423F-8E8F-FF9A15050B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d16bfa4707452c" /><Relationship Type="http://schemas.openxmlformats.org/officeDocument/2006/relationships/slideLayout" Target="/ppt/slideLayouts/slideLayout1.xml" Id="Ra98d2953720847a3" /><Relationship Type="http://schemas.openxmlformats.org/officeDocument/2006/relationships/slideLayout" Target="/ppt/slideLayouts/slideLayout2.xml" Id="R44a8c183e75d4614" /><Relationship Type="http://schemas.openxmlformats.org/officeDocument/2006/relationships/slideLayout" Target="/ppt/slideLayouts/slideLayout3.xml" Id="R10b1bd0a6d65437e" /><Relationship Type="http://schemas.openxmlformats.org/officeDocument/2006/relationships/slideLayout" Target="/ppt/slideLayouts/slideLayout4.xml" Id="R4d34e9c505754d44" /><Relationship Type="http://schemas.openxmlformats.org/officeDocument/2006/relationships/slideLayout" Target="/ppt/slideLayouts/slideLayout5.xml" Id="R8fba944e4fcf40de" /><Relationship Type="http://schemas.openxmlformats.org/officeDocument/2006/relationships/slideLayout" Target="/ppt/slideLayouts/slideLayout6.xml" Id="R3da01ff8b5fd41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8d2953720847a3"/>
    <p:sldLayoutId xmlns:r="http://schemas.openxmlformats.org/officeDocument/2006/relationships" id="2147483650" r:id="R44a8c183e75d4614"/>
    <p:sldLayoutId xmlns:r="http://schemas.openxmlformats.org/officeDocument/2006/relationships" id="2147483651" r:id="R10b1bd0a6d65437e"/>
    <p:sldLayoutId xmlns:r="http://schemas.openxmlformats.org/officeDocument/2006/relationships" id="2147483652" r:id="R4d34e9c505754d44"/>
    <p:sldLayoutId xmlns:r="http://schemas.openxmlformats.org/officeDocument/2006/relationships" id="2147483653" r:id="R8fba944e4fcf40de"/>
    <p:sldLayoutId xmlns:r="http://schemas.openxmlformats.org/officeDocument/2006/relationships" id="2147483654" r:id="R3da01ff8b5fd41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672cfbc104fa1" /><Relationship Type="http://schemas.openxmlformats.org/officeDocument/2006/relationships/notesSlide" Target="/ppt/notesSlides/notesSlide1.xml" Id="R8771ec0c578d42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3cc9e50cf487d" /><Relationship Type="http://schemas.openxmlformats.org/officeDocument/2006/relationships/notesSlide" Target="/ppt/notesSlides/notesSlide2.xml" Id="Rfe66190164654f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6733a48764f3e" /><Relationship Type="http://schemas.openxmlformats.org/officeDocument/2006/relationships/notesSlide" Target="/ppt/notesSlides/notesSlide3.xml" Id="Re960da4bcfb24c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73aee49be49a3" /><Relationship Type="http://schemas.openxmlformats.org/officeDocument/2006/relationships/notesSlide" Target="/ppt/notesSlides/notesSlide4.xml" Id="Re01a3d91235b4e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835e017194de4" /><Relationship Type="http://schemas.openxmlformats.org/officeDocument/2006/relationships/notesSlide" Target="/ppt/notesSlides/notesSlide5.xml" Id="R8dda20847b1940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55df72bba4929" /><Relationship Type="http://schemas.openxmlformats.org/officeDocument/2006/relationships/notesSlide" Target="/ppt/notesSlides/notesSlide6.xml" Id="Ra4145fbf713e42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8346588034534" /><Relationship Type="http://schemas.openxmlformats.org/officeDocument/2006/relationships/notesSlide" Target="/ppt/notesSlides/notesSlide7.xml" Id="Re73136c1f6de48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4609543264212" /><Relationship Type="http://schemas.openxmlformats.org/officeDocument/2006/relationships/notesSlide" Target="/ppt/notesSlides/notesSlide8.xml" Id="Radcdaa92992148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54f66180e445f8" /><Relationship Type="http://schemas.openxmlformats.org/officeDocument/2006/relationships/notesSlide" Target="/ppt/notesSlides/notesSlide9.xml" Id="R5574ce5a798643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878728dbf459a" /><Relationship Type="http://schemas.openxmlformats.org/officeDocument/2006/relationships/notesSlide" Target="/ppt/notesSlides/notesSlide10.xml" Id="R99d3c0f61c6c48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A364F-E8BB-4552-A943-175AA424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C22F4-4D97-447E-9A17-DFE09CA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84BDD-9B01-4399-9487-0954BD6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5CDA4-5CD2-4832-AB7B-52C7CE5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DFC35-0949-43EE-BB2B-7451A832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00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68B7F-0325-49C6-940E-AD7AC367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23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E44D7-24A6-478E-9EE7-98C8F4E8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19C5B-67E1-4B24-82FE-A427BE8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00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A8C69-35C4-4729-9EF6-1D91F0F0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123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C601D-1D45-4031-89B7-CFBBC2A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98F01-B898-4676-AFFA-16678AE5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00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5872-D68D-454D-95B8-149CA701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B8A9"/>
                </a:solidFill>
              </a:defRPr>
            </a:pPr>
            <a:r>
              <a:rPr sz="1500" b="1">
                <a:solidFill>
                  <a:srgbClr val="00B8A9"/>
                </a:solidFill>
              </a:rPr>
              <a:t>GCC Atlas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8F186-25BB-490D-8549-70B29774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0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 source of truth for India’s GCC ecosystem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EB93A-919E-4D1D-B5B4-6AAFA449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8E8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8E8"/>
                </a:solidFill>
              </a:defRPr>
            </a:pPr>
            <a:r>
              <a:rPr sz="1650" b="0">
                <a:solidFill>
                  <a:srgbClr val="C5D8E8"/>
                </a:solidFill>
              </a:rPr>
              <a:t>A decision workspace for companies evaluating, launching and scaling Global Capability Centres in India.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14B22-E595-4308-B55D-2C85D8C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347FB-FF0F-46F5-9293-C20BD87F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 proposal and working prototype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EC394-E8EE-473D-AC3E-E388F483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FB3C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9FB3C8"/>
                </a:solidFill>
              </a:defRPr>
            </a:pPr>
            <a:r>
              <a:rPr sz="975" b="0">
                <a:solidFill>
                  <a:srgbClr val="9FB3C8"/>
                </a:solidFill>
              </a:rPr>
              <a:t>Prepared by Anurag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988149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AAE21-44D7-4461-9011-BAA4D519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market has scale, but no shared definition of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42EEB-72A9-4408-803F-84162505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Every important decision starts with reconciling sources that count different things.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BB0C8-E326-4303-8A5E-4673EB1C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54B9F-A210-49F2-86AA-647B7BD2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5E8E1-BC88-4F8C-ADA9-3DEDF89B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2,117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E47B7-7AC4-4E70-BD60-ACF5C8DD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GCCs in India in FY2026, according to Zinnov and nasscom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16F4A-C603-4DB8-AF0F-8A58215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AF69B-5B28-48FE-A46E-3F83DEA7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536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A8019-CBE2-427A-B493-356A85F5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Centres Flexiple has verified in its directory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56813-3482-47F6-95CF-8064C93D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CC198-39D9-4C68-A5AC-F5E19C92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3,728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04225-E621-435E-A5E6-E99127F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Individual centres under the national count, not parent companies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07308-76F4-428C-88F5-56E3C467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C9F9A-DED6-4770-834B-D31956F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The mismatch is not a data error. It is a decision problem.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8F2D1-82EE-4C1A-8557-5095F2B0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34E68"/>
                </a:solidFill>
              </a:defRPr>
            </a:pPr>
            <a:r>
              <a:rPr sz="1275" b="0">
                <a:solidFill>
                  <a:srgbClr val="334E68"/>
                </a:solidFill>
              </a:rPr>
              <a:t>A company may need a census of sites, a comparable directory of GCCs, or evidence for one policy claim. Today those needs live across reports, advisors and referrals.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06D31-8633-4F1D-A594-04BDF17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0BC9E-E897-4477-9431-2AD6FCBD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Count the unit before using the number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8614E-1BE3-4B79-BEB2-058B971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B2204-D25D-4804-82D2-CBC26A37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77000"/>
            <a:ext cx="464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627D98"/>
                </a:solidFill>
              </a:defRPr>
            </a:pPr>
            <a:r>
              <a:rPr sz="675" b="0">
                <a:solidFill>
                  <a:srgbClr val="627D98"/>
                </a:solidFill>
              </a:rPr>
              <a:t>Sources: Flexiple GCC Statistics; nasscom–Zinnov, FY2026</a:t>
            </a:r>
          </a:p>
        </p:txBody>
      </p:sp>
    </p:spTree>
    <p:extLst>
      <p:ext uri="{BB962C8B-B14F-4D97-AF65-F5344CB8AC3E}">
        <p14:creationId xmlns:p14="http://schemas.microsoft.com/office/powerpoint/2010/main" val="351926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247A9B-900C-4792-8932-83AF1351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Information breaks at the handoffs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5C442-492E-4245-B3C8-582D966A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Each stakeholder sees one part of the decision and has an incentive to frame it favourably.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EEA73-4852-40AC-839D-10CFDFCB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B3D46-5169-43E2-858D-BB9BC8B7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Stakeholder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5E623-F0B0-4A89-A36F-E559FA1A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Decision at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5D3C0-E13C-43FD-B768-F909C443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Current workaround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ACC4B-F8F0-4EF2-93D3-E1DE87F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6D22D-90BC-4A7E-AA28-EAA9D105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Entering company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5872B-F8DF-4DF2-A823-47144C5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98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Needs a defensible location and launch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4E5F0-F42E-4D13-B449-C1CB7E8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98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Buys reports, asks advisors, uses referrals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82460-F80E-4263-86AF-9CE119E4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0DDF6-6D20-4B81-8E07-196B340F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Service providers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D8A7-321E-4AD0-89E3-5A97FDB3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90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Need qualified demand and credible proof of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FA5C7-32CD-477F-8D27-954E43A5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Market through case studies and relationships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9FA1D-1D63-47A8-8F29-74EB3828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DE9FA-17EC-4CEF-BAE8-981067E8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Governments and cities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2E5D3-443A-46BB-A9BA-567EC3BD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719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Need to attract the right investment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53935-2470-4066-8916-3EB8721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1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Publish policies that are difficult to 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8710B-8EC8-4780-B0C8-ACCCD29E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29D31-BD4C-414A-8D13-89C644B7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GCC leaders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E3BCC-E03C-44CD-B1EF-1A1CDF58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529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Need market intelligence after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02960-AB76-424E-BDB3-75573A1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Rely on peers, recruiters and fragmented benchmarks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EF3CA-1CBD-489B-B182-9E55F76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Cost of the gap: duplicated research, slow diligence, mispriced providers, and decisions that cannot be audited later.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C91D3-4749-47D6-BAD7-8570352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A7F05-EC1A-4D6E-B6CC-1070D2AD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77000"/>
            <a:ext cx="464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627D98"/>
                </a:solidFill>
              </a:defRPr>
            </a:pPr>
            <a:r>
              <a:rPr sz="675" b="0">
                <a:solidFill>
                  <a:srgbClr val="627D98"/>
                </a:solidFill>
              </a:rPr>
              <a:t>Source: product synthesis from assignment context and market research</a:t>
            </a:r>
          </a:p>
        </p:txBody>
      </p:sp>
    </p:spTree>
    <p:extLst>
      <p:ext uri="{BB962C8B-B14F-4D97-AF65-F5344CB8AC3E}">
        <p14:creationId xmlns:p14="http://schemas.microsoft.com/office/powerpoint/2010/main" val="1065934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44243F-DE36-420C-A751-89CDAA76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Four data products exist, but one must come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72E64-E099-426A-98B1-FA835A56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The winning wedge solves an urgent decision with data that becomes more valuable over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D945C-0A36-4AE8-9CE5-89C6244D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FF22A-4889-41F6-B90B-7D5F2A29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12F70-A97E-4E24-BC0A-41AA942D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Verified directory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5ED50-9BC0-4487-B383-230CB51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4E68"/>
                </a:solidFill>
              </a:defRPr>
            </a:pPr>
            <a:r>
              <a:rPr sz="1050" b="0">
                <a:solidFill>
                  <a:srgbClr val="334E68"/>
                </a:solidFill>
              </a:rPr>
              <a:t>Who exists, where, and with what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4DF79-D951-4CD3-93EF-6D4632F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Buyer urgency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7610C-CBC6-43EC-974A-B3805E3D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9228F-CDA6-4CB5-AD2A-A115FAF3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00B8A9"/>
                </a:solidFill>
              </a:defRPr>
            </a:pPr>
            <a:r>
              <a:rPr sz="825" b="1">
                <a:solidFill>
                  <a:srgbClr val="00B8A9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E890F-6540-4CB2-B793-84993E0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Data moat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E0FB8-BC00-411F-B2DD-30FBEC3E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DECEA-D0EB-4038-A863-D99B2E74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339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00B8A9"/>
                </a:solidFill>
              </a:defRPr>
            </a:pPr>
            <a:r>
              <a:rPr sz="825" b="1">
                <a:solidFill>
                  <a:srgbClr val="00B8A9"/>
                </a:solidFill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62890-377A-44D6-8C39-FF3AC83C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64D79-78D0-4A71-B588-91C983A2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City decision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3D2FA-04F9-4572-B733-3CE96556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4E68"/>
                </a:solidFill>
              </a:defRPr>
            </a:pPr>
            <a:r>
              <a:rPr sz="1050" b="0">
                <a:solidFill>
                  <a:srgbClr val="334E68"/>
                </a:solidFill>
              </a:rPr>
              <a:t>Talent, policy, peers and office signals for a specific choice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5125A-3ABF-4ABD-BE61-388AB031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Buyer urgency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7C111-EBC3-401D-BB2D-88C0EC94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481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34B89-FA9E-4C43-91F9-ABA94495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00B8A9"/>
                </a:solidFill>
              </a:defRPr>
            </a:pPr>
            <a:r>
              <a:rPr sz="825" b="1">
                <a:solidFill>
                  <a:srgbClr val="00B8A9"/>
                </a:solidFill>
              </a:rPr>
              <a:t>High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F8860-E1B9-4E28-B366-0F2ABA1C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38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Data moat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5660D-B16E-48CD-AFC5-3CE1C1A0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67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BB6F0-DDEA-4827-A269-0D33EE4B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339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D0E5D-F0B9-4369-BC37-E03212E2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9C996-669C-47DC-BF54-778E77B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Provider proof 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1371B-8F13-4A29-BE4E-B3033095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4E68"/>
                </a:solidFill>
              </a:defRPr>
            </a:pPr>
            <a:r>
              <a:rPr sz="1050" b="0">
                <a:solidFill>
                  <a:srgbClr val="334E68"/>
                </a:solidFill>
              </a:rPr>
              <a:t>Who delivered what, for whom, and at which stage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C26A7-4DCB-4E25-8E76-3C26F7FC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Buyer urgency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09519-DEF3-499A-83BE-CFA830D2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1AC81-EB90-4E5F-9EB4-610EB6F1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511B51-50C2-4A5A-91BB-9250A50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Data moat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5DCD7-2205-465F-8C5C-750397D3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32DD4D-F2CB-453C-B79A-8669A79F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339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00B8A9"/>
                </a:solidFill>
              </a:defRPr>
            </a:pPr>
            <a:r>
              <a:rPr sz="825" b="1">
                <a:solidFill>
                  <a:srgbClr val="00B8A9"/>
                </a:solidFill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0131A-E6B3-4435-AF47-E17EB263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A81279-9B42-4BF7-93A8-8E15205F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28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Market intelligence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E1C617-E0D0-48C8-A4E2-6B488922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4E68"/>
                </a:solidFill>
              </a:defRPr>
            </a:pPr>
            <a:r>
              <a:rPr sz="1050" b="0">
                <a:solidFill>
                  <a:srgbClr val="334E68"/>
                </a:solidFill>
              </a:rPr>
              <a:t>Openings, expansions and recurring benchmarks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DAEC06-17F3-4ADF-8767-C1ED72C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Buyer urgency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0DE0AC-11AC-4C06-8BD8-445D6FC5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481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D1D73D-4CD7-4479-8204-442F6CD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ED6ADA-6D05-4C0D-87CA-A47C26C2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Data moat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AE6841-AC99-432F-B36B-7C68F60D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8C9C54-C432-4923-9FA1-09F3F529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339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ADD7EC-EA96-4332-BEDF-58ACFE9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Start with the verified directory plus city decision workspace. They create the structured entity graph that every later product needs.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6EB286-0B62-4091-8FF9-A13110A6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04</a:t>
            </a:r>
          </a:p>
        </p:txBody>
      </p:sp>
    </p:spTree>
    <p:extLst>
      <p:ext uri="{BB962C8B-B14F-4D97-AF65-F5344CB8AC3E}">
        <p14:creationId xmlns:p14="http://schemas.microsoft.com/office/powerpoint/2010/main" val="1283353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A4778-DE78-4AD2-A625-182B765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GCC Atlas turns scattered evidence into a decision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DFED9-DBBD-4F38-9223-0F441E0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The product stores the claim, the source, the confidence level, and the user’s decision context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5D96F-E9B7-4C9D-BD90-77EE3F5C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AAD84-2343-45E4-85C3-4330FB79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B8A9"/>
                </a:solidFill>
              </a:defRPr>
            </a:pPr>
            <a:r>
              <a:rPr sz="1200" b="1">
                <a:solidFill>
                  <a:srgbClr val="00B8A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C7FDA-F15E-4EA3-9DB3-51EF61D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E6D15-2FD7-4DCA-A494-CB04B65C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Evidence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EF9BB-B473-482B-9A84-44CBD785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Government policies, company disclosures, research, and verified contributor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05C55-0493-489A-ADC0-D2335BED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B8A9"/>
                </a:solidFill>
              </a:defRPr>
            </a:pPr>
            <a:r>
              <a:rPr sz="1200" b="1">
                <a:solidFill>
                  <a:srgbClr val="00B8A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D5676-02EA-4DE7-A55A-D8BAF25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76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E99A4-9E48-4D7F-93EA-CDE31E05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Entity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0D9D3-DC42-4D00-B337-5206B1D0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Companies, centres, cities, providers, policies, and relationships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F7E02-61D0-463E-B1E2-2BB728F1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B8A9"/>
                </a:solidFill>
              </a:defRPr>
            </a:pPr>
            <a:r>
              <a:rPr sz="1200" b="1">
                <a:solidFill>
                  <a:srgbClr val="00B8A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A0369-2DFD-4077-891F-ECC13F76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98090-9CA8-444A-B779-F8196CBB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Decision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C6F46-A33B-476A-BE91-DD8B45B1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Search, compare cities, shortlist, annotate, and export an executive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D06B5-2171-4086-942F-0F42446B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B8A9"/>
                </a:solidFill>
              </a:defRPr>
            </a:pPr>
            <a:r>
              <a:rPr sz="1200" b="1">
                <a:solidFill>
                  <a:srgbClr val="00B8A9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0BEF1-BB9E-4E80-9C5A-AAADD68B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DBEC2-6114-4164-BF62-36F5091A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Trust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8038B-1AB5-4678-8AC0-8A6A1D36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Show sources, record freshness, invite corrections, and retain a change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F0044-611B-4025-816F-C6DD4133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D4D7B-9EB6-450E-A063-3324EF61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product promise: a recommendation should be inspectable, not merely persuasive.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56ECE-14A4-4989-8AFF-AACF947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05</a:t>
            </a:r>
          </a:p>
        </p:txBody>
      </p:sp>
    </p:spTree>
    <p:extLst>
      <p:ext uri="{BB962C8B-B14F-4D97-AF65-F5344CB8AC3E}">
        <p14:creationId xmlns:p14="http://schemas.microsoft.com/office/powerpoint/2010/main" val="852458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8B3B6-4087-4A42-8486-D5388D4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first user is the operator preparing an India location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44A2B-A512-4CE8-B190-2230276D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They need speed, confidence and a document that helps an executive committee decide.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3756C-DB89-4075-AB33-72C24374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DCCA6-4D90-4FBD-8DCA-65188527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69167-6B0E-4844-9015-FE0C00C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ECA41-595B-48C5-A5C1-3BAD0379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0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Define the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638C5-7CF1-42CD-93E0-C021551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Role mix, hiring horizon, entity model and decision criteria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9433C-E9C4-4B5A-B4C2-AA67AEF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A5E66-F771-4C0E-AF9F-A213D250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5EBB5-50B5-4117-9786-19BD0EEC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Compare options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CDB55-C124-43BF-88DB-A117A990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City scores with transparent weights and evidence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314E7-85BF-474A-B58D-67AE3693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9951D-A934-4455-8280-876BE5C0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4DA04-1072-453C-93CA-E6A74D3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Validate the 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94EE8-ADFD-460F-BA44-1996C0DD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5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Verified peers, relevant policies, notes and 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3E09E-08C8-4951-AC84-4F38B941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3B49E-8A9E-4322-8E52-E4C5399B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EED84-2AD4-4EB0-8195-35A7473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Export the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8C3E9-DA3D-4978-A714-1C398319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72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A short brief with citations and the evidence gaps still to resolve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C9827-0B70-44F3-8667-21519B26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Why this wedge works: a specific project creates a clear moment of need, while every workflow enriches the same evidence graph.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68EEC-6A03-460A-8C8C-5F918A95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06</a:t>
            </a:r>
          </a:p>
        </p:txBody>
      </p:sp>
    </p:spTree>
    <p:extLst>
      <p:ext uri="{BB962C8B-B14F-4D97-AF65-F5344CB8AC3E}">
        <p14:creationId xmlns:p14="http://schemas.microsoft.com/office/powerpoint/2010/main" val="98732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A9357-4EE5-4613-A736-1D8DF4BA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Working prototype: a research-to-decision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B4D5A-4B06-46E9-9056-9E140ED3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GCC Atlas already demonstrates the initial product loop in a working Next.js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ED8D-446B-452D-90C2-94926AD0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6FF90-98EF-4450-A5B8-DC9F3BFF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05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099AE-086C-4DBD-8447-98A8DA9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DBA49-7782-47B9-BFC6-82791AAC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GCC Explorer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EC258-8F7D-4D4C-B885-CFDFB1C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Search 30 curated company records by city, industry and function.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AA723-66D5-4B42-92EC-AC83B0D1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105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7133B-5B04-48BA-822D-9FDB0830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E3211-88AD-4994-89EC-B556BE04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City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AB7E4-84DD-4277-AFB3-C89F3D0D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Change criteria weights and see the city ranking update transparently.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8FE5F-137D-4BD6-9B83-A8232E04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105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E447A-B588-46F3-8A57-9290A2C2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4B093-17FE-4A87-8CF4-AD1E76F2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AI Research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A516B-D685-4359-ABEE-F4C742CD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Ask questions against the local evidence set with source-linked replies.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5113D-1823-439F-A0CE-23010CC5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5105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3B246-6F7A-4D9E-A96F-1E47BF68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41341-9DCD-4A1C-A4F0-78F0833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Evidence Library and Shortlist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2CC51-486E-4227-9D1C-20B2F38E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Audit sources, save entities, add notes, and export a decision brief.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892D2-0D82-46C7-A67F-14BA4585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5D78E-6177-4F84-A872-4058C6F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Demo path: Explorer  →  City Workspace  →  Research Copilot  →  Shortlist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1806C-9197-4E66-8FB7-1E402FB1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07</a:t>
            </a:r>
          </a:p>
        </p:txBody>
      </p:sp>
    </p:spTree>
    <p:extLst>
      <p:ext uri="{BB962C8B-B14F-4D97-AF65-F5344CB8AC3E}">
        <p14:creationId xmlns:p14="http://schemas.microsoft.com/office/powerpoint/2010/main" val="376198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DF5DF-A004-4BE7-968A-C7ED3F2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Position GCC Atlas as the evidence layer beneath the 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D18E9-0DEE-4ABF-9456-D027DA96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It complements advisors and providers by making their claims comparable and traceable.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FD2A6-C65D-44E7-8BEC-5F814760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229F3-8786-4B40-8286-2B02C5F0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For entering companies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A936B-4B0D-4DD7-8CA8-26BD454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82903-5EE3-4D8C-90B3-2334AA86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Shorten research cycles. See the source behind each decision signal. Keep a reusable decision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D854B-4EB1-4628-86DC-060B9F03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For service providers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04972-F8FC-4806-BE27-8A374BD8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15D70-27C4-472D-A5DD-9CBDD084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Earn discovery through verified delivery evidence. Convert marketing into credible proof.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979ED-7D9A-42A6-9776-2C385CAE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For governments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7CCA2-3FC9-4A08-ACB7-DE0BC9F2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4E8DF-8636-4F29-BE17-4320AB1A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Make incentives comparable and measurable. See where policy information creates friction.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22517-63B4-45E0-8A95-E98A94CD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For GCC leaders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CB0E1-5BD9-440F-AAFB-58F8B8B0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66925-704F-4024-8EE7-1B1EEDDB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Benchmark peer moves and maintain a living view of the local market.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04145-3793-4DC7-9510-86EB585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32601-2A68-45E2-AECA-A2E4DF4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53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Trust model: transparent methodology, source-level citations, confidence labels, freshness dates, and a correction path.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318FB-B40B-4A22-A044-D20C650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08</a:t>
            </a:r>
          </a:p>
        </p:txBody>
      </p:sp>
    </p:spTree>
    <p:extLst>
      <p:ext uri="{BB962C8B-B14F-4D97-AF65-F5344CB8AC3E}">
        <p14:creationId xmlns:p14="http://schemas.microsoft.com/office/powerpoint/2010/main" val="835033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3B8586-3994-4E6D-BFF6-FFB16DA1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moat comes from the evidence graph, not the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8C24C-757F-464C-82F7-4D3204D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A UI can be copied. A maintained network of claims, sources, entities and correction history compounds.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9E648-F36D-4181-B4D4-A870AF38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0B84D-DB04-4363-A9E1-466F5C49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4ECC9-BEA4-44E7-8811-D9B616B9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204F-F842-425F-AB88-FB1C123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3FE64-4B33-455E-837F-FCB07732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“Karnataka offers a relevant GCC incentive”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B00C1-39AE-4CBA-8A8F-4BF6F644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24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B8A9"/>
                </a:solidFill>
              </a:defRPr>
            </a:pPr>
            <a:r>
              <a:rPr sz="1950" b="1">
                <a:solidFill>
                  <a:srgbClr val="00B8A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55085-6F70-4F31-BAF6-D2709A50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A15A9-E655-4E3C-B342-679C5C2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258D1-3AFF-40EA-B755-F8FD17B3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61C9F-A3C8-4249-9DD2-965447AE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Official policy page and publication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372D8-662F-482B-8ED7-D1DC3A5D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B8A9"/>
                </a:solidFill>
              </a:defRPr>
            </a:pPr>
            <a:r>
              <a:rPr sz="1950" b="1">
                <a:solidFill>
                  <a:srgbClr val="00B8A9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D6238-807D-439B-AA35-44013BE3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D0E50-551B-4D83-862B-22DB017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3CE9D-681D-4598-B47A-60104756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685B4-C1C5-4130-8646-AC4769E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Policy, state, city, company and provider links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82BCB-5B95-4FC2-A94A-813DAEB6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24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B8A9"/>
                </a:solidFill>
              </a:defRPr>
            </a:pPr>
            <a:r>
              <a:rPr sz="1950" b="1">
                <a:solidFill>
                  <a:srgbClr val="00B8A9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3B831-3377-44C0-8419-12BA125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68387-9EF7-4AD1-B829-0920DEB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9210E-6168-4152-8F31-EF1BFD2D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Judgement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07B30-83F8-4966-BB74-58134504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Confidence, last checked date and limitations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B21E2-2388-469A-9C89-41849902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24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B8A9"/>
                </a:solidFill>
              </a:defRPr>
            </a:pPr>
            <a:r>
              <a:rPr sz="1950" b="1">
                <a:solidFill>
                  <a:srgbClr val="00B8A9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B4F1ED-85D6-4A0F-903F-471118A1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DD70CD-9820-401F-A4EA-B000CE29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71B6C-D0EC-47FE-8E14-15AE629E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FD73E-92D0-4943-9C99-8EBC9AFC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Shortlist, scenario weights, internal note and exported brief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38F56F-7740-458F-B551-F0788597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Over time, contributors and users help close gaps. The platform earns trust by preserving uncertainty rather than hiding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F07F97-D9D2-4CE4-B58A-08E443F8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09</a:t>
            </a:r>
          </a:p>
        </p:txBody>
      </p:sp>
    </p:spTree>
    <p:extLst>
      <p:ext uri="{BB962C8B-B14F-4D97-AF65-F5344CB8AC3E}">
        <p14:creationId xmlns:p14="http://schemas.microsoft.com/office/powerpoint/2010/main" val="1411665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A9D14-0EC9-4043-B545-B2BDBD53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A focused 90-day plan turns the prototype into a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98A6F-9031-4A3F-A262-8AEA0C3E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The immediate goal is to validate repeated decision workflows, not to build a generic database.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794A8-A6EC-432F-B55F-E22EDB7B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7BE64-0F3D-46D0-93DA-93DF6FCB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EF16D-585C-407E-83C9-71AE79A7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669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Weeks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3FDD5-CE69-4DB9-A9FA-12CECC81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669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Recruit 5 design partners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DA0FF-26D6-49F5-9D6B-D360491B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4790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Target companies considering a new India centre or a second city. Capture their actual decision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C0AE7-CB23-47BE-9D99-D5F20062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FBC87-E92A-497D-B31E-73219616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Weeks 4–7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DEBC-45EF-4BFC-A81D-760B44C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Build the missing decision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BFBE0-6B24-4B7A-9557-03AA243D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2900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Add city-specific talent and office inputs only where the pilot workflow demands them.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4A4E7-A580-4F88-830C-8AC67F74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65575-C522-4355-9F54-B0081B8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Weeks 8–12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150F0-8FBD-4880-AA61-AF334DE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Run decision-room pilots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E4922-D37F-4599-9313-4EBD2235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Measure time to shortlist, source coverage, correction rate, and executive brief reuse.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9A99D-D09F-4717-8B84-574B5D70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185BA-0D19-4867-98F0-2B96ACE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245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Success metric: a pilot customer can explain and defend a location decision with less time and fewer unsupported claims.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7A269-2D76-46CE-88CA-D8DD49F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10</a:t>
            </a:r>
          </a:p>
        </p:txBody>
      </p:sp>
    </p:spTree>
    <p:extLst>
      <p:ext uri="{BB962C8B-B14F-4D97-AF65-F5344CB8AC3E}">
        <p14:creationId xmlns:p14="http://schemas.microsoft.com/office/powerpoint/2010/main" val="1938006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2026-10-12T17:38:14.2100000Z</dcterms:created>
  <dcterms:modified xsi:type="dcterms:W3CDTF">2026-10-12T17:38:14.2100000Z</dcterms:modified>
</coreProperties>
</file>