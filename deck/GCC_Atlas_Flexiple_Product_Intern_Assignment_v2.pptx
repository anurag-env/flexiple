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e3434991e741b9" /><Relationship Type="http://schemas.openxmlformats.org/officeDocument/2006/relationships/extended-properties" Target="/docProps/app.xml" Id="R014f2b42d5fa4062" /><Relationship Type="http://schemas.openxmlformats.org/officeDocument/2006/relationships/officeDocument" Target="/ppt/presentation.xml" Id="Ra91a0fa2d12443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6a6363d50444e7"/>
  </p:sldMasterIdLst>
  <p:notesMasterIdLst>
    <p:notesMasterId xmlns:r="http://schemas.openxmlformats.org/officeDocument/2006/relationships" r:id="R15bbb6f218b34ebb"/>
  </p:notesMasterIdLst>
  <p:sldIdLst>
    <p:sldId xmlns:r="http://schemas.openxmlformats.org/officeDocument/2006/relationships" id="256" r:id="R832649f86e0d4f1d"/>
    <p:sldId xmlns:r="http://schemas.openxmlformats.org/officeDocument/2006/relationships" id="257" r:id="R322da578ed924015"/>
    <p:sldId xmlns:r="http://schemas.openxmlformats.org/officeDocument/2006/relationships" id="258" r:id="R7c1d2bf928fe4d1d"/>
    <p:sldId xmlns:r="http://schemas.openxmlformats.org/officeDocument/2006/relationships" id="259" r:id="Rc2d03e2d379d4800"/>
    <p:sldId xmlns:r="http://schemas.openxmlformats.org/officeDocument/2006/relationships" id="260" r:id="R203aa113ce784257"/>
    <p:sldId xmlns:r="http://schemas.openxmlformats.org/officeDocument/2006/relationships" id="261" r:id="R22c14bec6b734acb"/>
    <p:sldId xmlns:r="http://schemas.openxmlformats.org/officeDocument/2006/relationships" id="262" r:id="Rd7c6e61c05cf4d0a"/>
    <p:sldId xmlns:r="http://schemas.openxmlformats.org/officeDocument/2006/relationships" id="263" r:id="Rdc9df7df9fde42b0"/>
    <p:sldId xmlns:r="http://schemas.openxmlformats.org/officeDocument/2006/relationships" id="264" r:id="R033a92b64d4241b9"/>
    <p:sldId xmlns:r="http://schemas.openxmlformats.org/officeDocument/2006/relationships" id="265" r:id="R65e6bb6e135a4e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7733b48366448d" /><Relationship Type="http://schemas.openxmlformats.org/officeDocument/2006/relationships/slideMaster" Target="/ppt/slideMasters/slideMaster1.xml" Id="R956a6363d50444e7" /><Relationship Type="http://schemas.openxmlformats.org/officeDocument/2006/relationships/notesMaster" Target="/ppt/notesMasters/notesMaster1.xml" Id="R15bbb6f218b34ebb" /><Relationship Type="http://schemas.openxmlformats.org/officeDocument/2006/relationships/presProps" Target="/ppt/presProps.xml" Id="Rfd1f6b35fb454150" /><Relationship Type="http://schemas.openxmlformats.org/officeDocument/2006/relationships/tableStyles" Target="/ppt/tableStyles.xml" Id="R4f87a66194304c0a" /><Relationship Type="http://schemas.openxmlformats.org/officeDocument/2006/relationships/slide" Target="/ppt/slides/slide1.xml" Id="R832649f86e0d4f1d" /><Relationship Type="http://schemas.openxmlformats.org/officeDocument/2006/relationships/slide" Target="/ppt/slides/slide2.xml" Id="R322da578ed924015" /><Relationship Type="http://schemas.openxmlformats.org/officeDocument/2006/relationships/slide" Target="/ppt/slides/slide3.xml" Id="R7c1d2bf928fe4d1d" /><Relationship Type="http://schemas.openxmlformats.org/officeDocument/2006/relationships/slide" Target="/ppt/slides/slide4.xml" Id="Rc2d03e2d379d4800" /><Relationship Type="http://schemas.openxmlformats.org/officeDocument/2006/relationships/slide" Target="/ppt/slides/slide5.xml" Id="R203aa113ce784257" /><Relationship Type="http://schemas.openxmlformats.org/officeDocument/2006/relationships/slide" Target="/ppt/slides/slide6.xml" Id="R22c14bec6b734acb" /><Relationship Type="http://schemas.openxmlformats.org/officeDocument/2006/relationships/slide" Target="/ppt/slides/slide7.xml" Id="Rd7c6e61c05cf4d0a" /><Relationship Type="http://schemas.openxmlformats.org/officeDocument/2006/relationships/slide" Target="/ppt/slides/slide8.xml" Id="Rdc9df7df9fde42b0" /><Relationship Type="http://schemas.openxmlformats.org/officeDocument/2006/relationships/slide" Target="/ppt/slides/slide9.xml" Id="R033a92b64d4241b9" /><Relationship Type="http://schemas.openxmlformats.org/officeDocument/2006/relationships/slide" Target="/ppt/slides/slide10.xml" Id="R65e6bb6e135a4e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5e11e6af4c4d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6a17a917394f0c" /><Relationship Type="http://schemas.openxmlformats.org/officeDocument/2006/relationships/notesMaster" Target="/ppt/notesMasters/notesMaster1.xml" Id="R48982922457e44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c443de6350415c" /><Relationship Type="http://schemas.openxmlformats.org/officeDocument/2006/relationships/notesMaster" Target="/ppt/notesMasters/notesMaster1.xml" Id="R4d8994c4a37046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d1a1b768bf4cf3" /><Relationship Type="http://schemas.openxmlformats.org/officeDocument/2006/relationships/notesMaster" Target="/ppt/notesMasters/notesMaster1.xml" Id="Re4f4b193bdb74d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5ff1d2d4ef429b" /><Relationship Type="http://schemas.openxmlformats.org/officeDocument/2006/relationships/notesMaster" Target="/ppt/notesMasters/notesMaster1.xml" Id="R46ac93e0cb2447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7d30b910054ecf" /><Relationship Type="http://schemas.openxmlformats.org/officeDocument/2006/relationships/notesMaster" Target="/ppt/notesMasters/notesMaster1.xml" Id="Ra4f33079d36543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58998fdc174cff" /><Relationship Type="http://schemas.openxmlformats.org/officeDocument/2006/relationships/notesMaster" Target="/ppt/notesMasters/notesMaster1.xml" Id="R9a16190d59764a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38e3f7d8d8441e" /><Relationship Type="http://schemas.openxmlformats.org/officeDocument/2006/relationships/notesMaster" Target="/ppt/notesMasters/notesMaster1.xml" Id="R260286ad075a45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f28a687f474842" /><Relationship Type="http://schemas.openxmlformats.org/officeDocument/2006/relationships/notesMaster" Target="/ppt/notesMasters/notesMaster1.xml" Id="R165f9327d86a4f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f244fe46d44ce0" /><Relationship Type="http://schemas.openxmlformats.org/officeDocument/2006/relationships/notesMaster" Target="/ppt/notesMasters/notesMaster1.xml" Id="Rf77517854e8644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0311fbff70439d" /><Relationship Type="http://schemas.openxmlformats.org/officeDocument/2006/relationships/notesMaster" Target="/ppt/notesMasters/notesMaster1.xml" Id="R3bc30d555ec14f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Flexiple GCC Statistics, accessed October 2026. Product concept and prototype created for the Flexiple Product Intern assignment.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https://flexiple.com/gcc/statistics; https://community.nasscom.in/index.php/communities/nasscom-insights/india-gcc-landscape-report-5-year-journey?page=7. Counts have distinct units and should not be compared as a single census.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a product synthesis, informed by the assignment context, Flexiple GCC Statistics and official state policy pages.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Opportunity assessment is a product hypothesis, not a market-size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Solution architecture reflects the existing GCC Atlas working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 user and workflow are product hypotheses designed around the existing prototype capabilities.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Prototype functionality verified by automated test suite: 31 tests passed. Production build could not complete in this environment because Turbopack could not bind an internal local 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Positioning is a product recommendation.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Moat model is an inference from the platform design and market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and success metric are recommendations, not commitments.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e2623fd3c9416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3525ff4a804d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4e746911964ab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197fd2175a49c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3c53571ed244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0dbdf598ec42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A4A16C-9D5A-4CC8-8606-D224AF833E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C806FAB-AA85-4A79-991F-798D944D2C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6F1B1CB-28D4-4A89-A78F-CA39B1CA76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F5FCEC-006A-4E61-831E-7CBA53ABD8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7608CA2-7465-4230-B512-6ED7C8097F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2199BD9-8F65-4C8F-BA21-8700394BAE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C2D9B5-78CB-4104-AA86-1676642720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C4B22AA-4D22-4C8B-82E3-878ED6929C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50E7B6-0E1C-4E36-B722-650D5AAA11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91B0B5-ADB6-4383-AA01-8219C97AA3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87deda04e74076" /><Relationship Type="http://schemas.openxmlformats.org/officeDocument/2006/relationships/slideLayout" Target="/ppt/slideLayouts/slideLayout1.xml" Id="Rdecbf0c487774ecd" /><Relationship Type="http://schemas.openxmlformats.org/officeDocument/2006/relationships/slideLayout" Target="/ppt/slideLayouts/slideLayout2.xml" Id="R5e024ca853514a62" /><Relationship Type="http://schemas.openxmlformats.org/officeDocument/2006/relationships/slideLayout" Target="/ppt/slideLayouts/slideLayout3.xml" Id="Rcea3c400742243eb" /><Relationship Type="http://schemas.openxmlformats.org/officeDocument/2006/relationships/slideLayout" Target="/ppt/slideLayouts/slideLayout4.xml" Id="Re87235946bb24b01" /><Relationship Type="http://schemas.openxmlformats.org/officeDocument/2006/relationships/slideLayout" Target="/ppt/slideLayouts/slideLayout5.xml" Id="Rd3c98c5f08cf4608" /><Relationship Type="http://schemas.openxmlformats.org/officeDocument/2006/relationships/slideLayout" Target="/ppt/slideLayouts/slideLayout6.xml" Id="R23f45a6b815c46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cbf0c487774ecd"/>
    <p:sldLayoutId xmlns:r="http://schemas.openxmlformats.org/officeDocument/2006/relationships" id="2147483650" r:id="R5e024ca853514a62"/>
    <p:sldLayoutId xmlns:r="http://schemas.openxmlformats.org/officeDocument/2006/relationships" id="2147483651" r:id="Rcea3c400742243eb"/>
    <p:sldLayoutId xmlns:r="http://schemas.openxmlformats.org/officeDocument/2006/relationships" id="2147483652" r:id="Re87235946bb24b01"/>
    <p:sldLayoutId xmlns:r="http://schemas.openxmlformats.org/officeDocument/2006/relationships" id="2147483653" r:id="Rd3c98c5f08cf4608"/>
    <p:sldLayoutId xmlns:r="http://schemas.openxmlformats.org/officeDocument/2006/relationships" id="2147483654" r:id="R23f45a6b815c46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a2af3b7d974799" /><Relationship Type="http://schemas.openxmlformats.org/officeDocument/2006/relationships/notesSlide" Target="/ppt/notesSlides/notesSlide1.xml" Id="Rd7ae71d0c56542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879a3f09c14d0d" /><Relationship Type="http://schemas.openxmlformats.org/officeDocument/2006/relationships/notesSlide" Target="/ppt/notesSlides/notesSlide2.xml" Id="Ra4e7f529bc6240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afc2fd0c7c4359" /><Relationship Type="http://schemas.openxmlformats.org/officeDocument/2006/relationships/notesSlide" Target="/ppt/notesSlides/notesSlide3.xml" Id="Rbce215ae8d5d46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0b299f56224d02" /><Relationship Type="http://schemas.openxmlformats.org/officeDocument/2006/relationships/notesSlide" Target="/ppt/notesSlides/notesSlide4.xml" Id="R715aa8fb1a134f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9e7d33d18e4c9d" /><Relationship Type="http://schemas.openxmlformats.org/officeDocument/2006/relationships/notesSlide" Target="/ppt/notesSlides/notesSlide5.xml" Id="R0b30d16992634f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d2be16f7184409" /><Relationship Type="http://schemas.openxmlformats.org/officeDocument/2006/relationships/notesSlide" Target="/ppt/notesSlides/notesSlide6.xml" Id="R648e94086c4849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0f9aa76f004277" /><Relationship Type="http://schemas.openxmlformats.org/officeDocument/2006/relationships/notesSlide" Target="/ppt/notesSlides/notesSlide7.xml" Id="Rb8a3d07decb64f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8d51c98a114a61" /><Relationship Type="http://schemas.openxmlformats.org/officeDocument/2006/relationships/notesSlide" Target="/ppt/notesSlides/notesSlide8.xml" Id="R1912d569940448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2199fe6c70492a" /><Relationship Type="http://schemas.openxmlformats.org/officeDocument/2006/relationships/notesSlide" Target="/ppt/notesSlides/notesSlide9.xml" Id="R51f40b4f792c4c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77592cd4724d7a" /><Relationship Type="http://schemas.openxmlformats.org/officeDocument/2006/relationships/notesSlide" Target="/ppt/notesSlides/notesSlide10.xml" Id="Rc76f48712be545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5727C4-C592-42B8-8263-B21E57AB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A3484-5CCA-4B57-9952-7E1751FC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B3996-FC93-46DE-976F-DF7619B1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23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6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07881-55D8-43A4-9B29-06E77DC8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96983-D814-4E34-A0D4-10E61A8F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00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6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28C60-8359-41B9-919A-F0A82FAB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123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0F46D-DDE8-45B4-AE60-3D22920F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6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49395-BB1F-4717-8662-7321807D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00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A387F-64D5-4F8C-A67F-30B49855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123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6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DA8C1-EF60-4974-AC5E-BBBA6CE8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707C8-D4CC-4B51-9818-FB1761B7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600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6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9294B-CBB2-4840-90DD-2F92D949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B8A9"/>
                </a:solidFill>
              </a:defRPr>
            </a:pPr>
            <a:r>
              <a:rPr sz="1500" b="1">
                <a:solidFill>
                  <a:srgbClr val="00B8A9"/>
                </a:solidFill>
              </a:rPr>
              <a:t>GCC Atlas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B84A0-1D0C-47E6-9C25-61DC60B1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00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A source of truth for India’s GCC ecosystem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A896C-4FC2-46FE-B07C-8810756D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5D8E8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5D8E8"/>
                </a:solidFill>
              </a:defRPr>
            </a:pPr>
            <a:r>
              <a:rPr sz="1650" b="0">
                <a:solidFill>
                  <a:srgbClr val="C5D8E8"/>
                </a:solidFill>
              </a:rPr>
              <a:t>A decision workspace for companies evaluating, launching and scaling Global Capability Centres in India.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FADEF0-47CE-4C41-9B85-49155076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89C8F6-DCE6-429D-80E5-952AA54C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Product proposal and working prototype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E2F414-A8A6-4A63-9566-71DF8370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FB3C8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9FB3C8"/>
                </a:solidFill>
              </a:defRPr>
            </a:pPr>
            <a:r>
              <a:rPr sz="975" b="0">
                <a:solidFill>
                  <a:srgbClr val="9FB3C8"/>
                </a:solidFill>
              </a:rPr>
              <a:t>Prepared by Anurag  |  October 2026</a:t>
            </a:r>
          </a:p>
        </p:txBody>
      </p:sp>
    </p:spTree>
    <p:extLst>
      <p:ext uri="{BB962C8B-B14F-4D97-AF65-F5344CB8AC3E}">
        <p14:creationId xmlns:p14="http://schemas.microsoft.com/office/powerpoint/2010/main" val="4914804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00E913-B38C-4F6B-8CCB-84850EEE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The market has scale, but no shared definition of truth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3C123-BA25-40B3-85B9-611097A8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Every important decision starts with reconciling sources that count different things.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C0F1D-74B5-4DFB-B134-A4EEC3AF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63CD7-75DE-4E5F-8653-03E5BF99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70837-4290-4A93-B242-90BF98CA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2,117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9A96E-98DC-4BD2-8E92-63A27422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D98"/>
                </a:solidFill>
              </a:defRPr>
            </a:pPr>
            <a:r>
              <a:rPr sz="1050" b="0">
                <a:solidFill>
                  <a:srgbClr val="627D98"/>
                </a:solidFill>
              </a:rPr>
              <a:t>GCCs in India in FY2026, according to Zinnov and nasscom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4E7B3-95DF-4152-BE55-862E7266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9A698-8664-40CB-8BCA-72041DEB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536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29CCF-3BF3-4C02-BAE1-C0AE3D4A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D98"/>
                </a:solidFill>
              </a:defRPr>
            </a:pPr>
            <a:r>
              <a:rPr sz="1050" b="0">
                <a:solidFill>
                  <a:srgbClr val="627D98"/>
                </a:solidFill>
              </a:rPr>
              <a:t>Centres Flexiple has verified in its directory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96A574-36BC-4121-B142-7CCC8678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0025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0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E478E-7407-4861-98AA-6E07C941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907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3,728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19BE2-159A-4DEE-A28B-CFD15E49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D98"/>
                </a:solidFill>
              </a:defRPr>
            </a:pPr>
            <a:r>
              <a:rPr sz="1050" b="0">
                <a:solidFill>
                  <a:srgbClr val="627D98"/>
                </a:solidFill>
              </a:rPr>
              <a:t>Individual centres under the national count, not parent companies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FC0EB0-EF7B-49B2-9798-72FC4557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C8C366-713C-40EB-A78F-ADE4619F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The mismatch is not a data error. It is a decision problem.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567667-64C4-4358-905D-A7DA3ED3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34E68"/>
                </a:solidFill>
              </a:defRPr>
            </a:pPr>
            <a:r>
              <a:rPr sz="1275" b="0">
                <a:solidFill>
                  <a:srgbClr val="334E68"/>
                </a:solidFill>
              </a:rPr>
              <a:t>A company may need a census of sites, a comparable directory of GCCs, or evidence for one policy claim. Today those needs live across reports, advisors and referrals.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04E6CE-6AE8-4ED8-88AA-71981A77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521697-BDC4-48DF-889F-54B3E726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8A5A00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8A5A00"/>
                </a:solidFill>
              </a:defRPr>
            </a:pPr>
            <a:r>
              <a:rPr sz="825" b="1">
                <a:solidFill>
                  <a:srgbClr val="8A5A00"/>
                </a:solidFill>
              </a:rPr>
              <a:t>Count the unit before using the number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2432B0-2058-4057-A81F-DF5AB045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0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GCC Atlas  |  Product Intern Assignment  |  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0F6064-3234-40E9-A04D-B168FEE1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77000"/>
            <a:ext cx="464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675" b="0">
                <a:solidFill>
                  <a:srgbClr val="627D98"/>
                </a:solidFill>
              </a:defRPr>
            </a:pPr>
            <a:r>
              <a:rPr sz="675" b="0">
                <a:solidFill>
                  <a:srgbClr val="627D98"/>
                </a:solidFill>
              </a:rPr>
              <a:t>Sources: Flexiple GCC Statistics; nasscom–Zinnov, FY2026</a:t>
            </a:r>
          </a:p>
        </p:txBody>
      </p:sp>
    </p:spTree>
    <p:extLst>
      <p:ext uri="{BB962C8B-B14F-4D97-AF65-F5344CB8AC3E}">
        <p14:creationId xmlns:p14="http://schemas.microsoft.com/office/powerpoint/2010/main" val="4641268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18C172-0E4B-49EA-AD98-A26D7DC3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Information breaks at the handoffs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BEA59-9571-4715-87BC-03DE7891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Each stakeholder sees one part of the decision and has an incentive to frame it favourably.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EA9B8-E0AC-4DF9-A32B-F8A5B141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08B1A-A5E1-4066-90A6-0FA6E219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27D98"/>
                </a:solidFill>
              </a:defRPr>
            </a:pPr>
            <a:r>
              <a:rPr sz="975" b="1">
                <a:solidFill>
                  <a:srgbClr val="627D98"/>
                </a:solidFill>
              </a:rPr>
              <a:t>Stakeholder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59AEB-9879-40A2-A2C9-C3980AA7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240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27D98"/>
                </a:solidFill>
              </a:defRPr>
            </a:pPr>
            <a:r>
              <a:rPr sz="975" b="1">
                <a:solidFill>
                  <a:srgbClr val="627D98"/>
                </a:solidFill>
              </a:rPr>
              <a:t>Decision at risk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024C1-F3A4-47D6-B911-C26D609C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27D98"/>
                </a:solidFill>
              </a:defRPr>
            </a:pPr>
            <a:r>
              <a:rPr sz="975" b="1">
                <a:solidFill>
                  <a:srgbClr val="627D98"/>
                </a:solidFill>
              </a:rPr>
              <a:t>Current workaround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30F8D-AF7E-47FC-A257-DB64730B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FC7A4-4C08-47FF-88BB-39F14F96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669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Entering company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4B476-9950-4C63-B9E4-8A125EAE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098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Needs a defensible location and launch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F9DE7-04AA-46BC-8325-65133CF4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98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Buys reports, asks advisors, uses referrals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4263C-917E-4540-858B-2C93B914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5963E-19F4-4088-BEE4-E3B8C789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Service providers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76513C-26A1-49E5-B88B-99D62BC2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908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Need qualified demand and credible proof of delivery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C6C192-7B18-4620-98AE-ACC902DE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908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Market through case studies and relationships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4DC406-F7CC-4693-955D-3173DA57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CB1D3B-C5E0-4A0C-8243-822C0FCA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290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Governments and cities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EFCE29-6D8E-462E-BD91-07482BB9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719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Need to attract the right investment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BB2D56-63E9-4323-BAEE-32CD56CE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719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Publish policies that are difficult to compare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A15871-CE0D-4B04-B74C-00E0BCBB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C4C22A-E6FB-4744-99CF-115A4E64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01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GCC leaders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4CCA64-3450-44D6-BB87-99A3A8D5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7529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Need market intelligence after launch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B6D06A-64BC-42B1-8195-1A432E5F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529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Rely on peers, recruiters and fragmented benchmarks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6455FA-EFBC-4750-94E9-7B6CAE88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Cost of the gap: duplicated research, slow diligence, mispriced providers, and decisions that cannot be audited later.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3256E2-D3EC-4004-B0DC-FD3FA6C4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0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GCC Atlas  |  Product Intern Assignment  |  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DD85DA-729C-4262-99E4-CF03E21B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77000"/>
            <a:ext cx="464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675" b="0">
                <a:solidFill>
                  <a:srgbClr val="627D98"/>
                </a:solidFill>
              </a:defRPr>
            </a:pPr>
            <a:r>
              <a:rPr sz="675" b="0">
                <a:solidFill>
                  <a:srgbClr val="627D98"/>
                </a:solidFill>
              </a:rPr>
              <a:t>Source: product synthesis from assignment context and market research</a:t>
            </a:r>
          </a:p>
        </p:txBody>
      </p:sp>
    </p:spTree>
    <p:extLst>
      <p:ext uri="{BB962C8B-B14F-4D97-AF65-F5344CB8AC3E}">
        <p14:creationId xmlns:p14="http://schemas.microsoft.com/office/powerpoint/2010/main" val="17869769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E4C4FE-68F1-404D-92B9-D324463C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Four data products exist, but one must come first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DD53A-E31C-4002-88ED-4872A0FC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The winning wedge solves an urgent decision with data that becomes more valuable over time.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3E114-977F-42B4-BECF-C48AAF09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C8541-E5EF-4797-AF3D-C41A1CC7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400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22527-1FD8-40E7-81A7-EEEE6534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Verified directory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B8B3F-EFDC-48F1-80F2-FBA1672F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334E68"/>
                </a:solidFill>
              </a:defRPr>
            </a:pPr>
            <a:r>
              <a:rPr sz="1050" b="0">
                <a:solidFill>
                  <a:srgbClr val="334E68"/>
                </a:solidFill>
              </a:rPr>
              <a:t>Who exists, where, and with what confidence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F95C45-1FD8-43DC-A932-D79B3BC9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Buyer urgency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E77D4-5C1B-422B-84CA-29E7796A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AD562-1427-4DB6-B693-B7C3F5C7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148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00B8A9"/>
                </a:solidFill>
              </a:defRPr>
            </a:pPr>
            <a:r>
              <a:rPr sz="825" b="1">
                <a:solidFill>
                  <a:srgbClr val="00B8A9"/>
                </a:solidFill>
              </a:rPr>
              <a:t>High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80D8F5-1835-42EE-9437-4F3D3807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Data moat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9AB862-05D5-4FF4-883A-8C435644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B608F-C931-421F-84F6-C563AEB9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3392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00B8A9"/>
                </a:solidFill>
              </a:defRPr>
            </a:pPr>
            <a:r>
              <a:rPr sz="825" b="1">
                <a:solidFill>
                  <a:srgbClr val="00B8A9"/>
                </a:solidFill>
              </a:rPr>
              <a:t>High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68437E-2F12-4C16-8EE6-E325A6EF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00250"/>
            <a:ext cx="2400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20BB7A-B12E-4DD8-9883-A96457FD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288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City decision workspace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6633E-DD75-4E5A-9F95-982FFB34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384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334E68"/>
                </a:solidFill>
              </a:defRPr>
            </a:pPr>
            <a:r>
              <a:rPr sz="1050" b="0">
                <a:solidFill>
                  <a:srgbClr val="334E68"/>
                </a:solidFill>
              </a:rPr>
              <a:t>Talent, policy, peers and office signals for a specific choice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E62B0-3E6B-43DD-8A9B-D1AC1CE7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100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Buyer urgency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8EBBE4-2943-4CA5-8FB5-21204590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48125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2D34F-63C2-4FB7-B0CF-B3897CE0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148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00B8A9"/>
                </a:solidFill>
              </a:defRPr>
            </a:pPr>
            <a:r>
              <a:rPr sz="825" b="1">
                <a:solidFill>
                  <a:srgbClr val="00B8A9"/>
                </a:solidFill>
              </a:rPr>
              <a:t>High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61E087-BA36-425F-A135-A52A75B5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386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Data moat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E70528-49DB-4304-B365-FEA7D6F5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672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4C37E5-076D-4571-AA59-EB533324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3392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8A5A00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8A5A00"/>
                </a:solidFill>
              </a:defRPr>
            </a:pPr>
            <a:r>
              <a:rPr sz="825" b="1">
                <a:solidFill>
                  <a:srgbClr val="8A5A00"/>
                </a:solidFill>
              </a:rPr>
              <a:t>Medium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48E705-3C1D-4236-A132-0C2B67B6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2400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0A28C7-5169-45D6-B817-0289D17A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288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Provider proof graph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4A662B-A6FA-4BFE-B253-CC4BFC49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334E68"/>
                </a:solidFill>
              </a:defRPr>
            </a:pPr>
            <a:r>
              <a:rPr sz="1050" b="0">
                <a:solidFill>
                  <a:srgbClr val="334E68"/>
                </a:solidFill>
              </a:rPr>
              <a:t>Who delivered what, for whom, and at which stage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8DC4D8-E7EA-463E-8B51-1D6007BF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Buyer urgency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4AD907-1DA1-4601-AEC7-A4E6453F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48125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9A2376-6CF8-4A39-9184-53A9E7B3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148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8A5A00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8A5A00"/>
                </a:solidFill>
              </a:defRPr>
            </a:pPr>
            <a:r>
              <a:rPr sz="825" b="1">
                <a:solidFill>
                  <a:srgbClr val="8A5A00"/>
                </a:solidFill>
              </a:rPr>
              <a:t>Medium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B244AB-B949-4813-B8BE-4C447778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386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Data moat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50244D-CD97-49B1-AC72-3E3493CC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0E35B4-3B72-4B8B-B6BD-80639BDC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3392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00B8A9"/>
                </a:solidFill>
              </a:defRPr>
            </a:pPr>
            <a:r>
              <a:rPr sz="825" b="1">
                <a:solidFill>
                  <a:srgbClr val="00B8A9"/>
                </a:solidFill>
              </a:rPr>
              <a:t>High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CEF709-DBA7-4FA3-82CC-895E714F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400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87AC65-8611-416C-A7D0-54AACA2E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288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Market intelligence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C6ABA9-795E-443C-8682-22C98650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384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334E68"/>
                </a:solidFill>
              </a:defRPr>
            </a:pPr>
            <a:r>
              <a:rPr sz="1050" b="0">
                <a:solidFill>
                  <a:srgbClr val="334E68"/>
                </a:solidFill>
              </a:rPr>
              <a:t>Openings, expansions and recurring benchmarks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5AF06A-058C-4C5A-81D6-21CA273D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100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Buyer urgency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1FB3FF-8B39-4411-9D5C-FD02624E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48125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962F43-8231-4D8F-B387-65CF6182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148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8A5A00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8A5A00"/>
                </a:solidFill>
              </a:defRPr>
            </a:pPr>
            <a:r>
              <a:rPr sz="825" b="1">
                <a:solidFill>
                  <a:srgbClr val="8A5A00"/>
                </a:solidFill>
              </a:rPr>
              <a:t>Medium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E8D6C7-6D92-44B3-B575-73ADA463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386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Data moat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9DF84C-F00C-4344-A821-FEB0DFDC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672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7AF6F5-A0AB-41A9-AB07-56A21C0A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3392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8A5A00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8A5A00"/>
                </a:solidFill>
              </a:defRPr>
            </a:pPr>
            <a:r>
              <a:rPr sz="825" b="1">
                <a:solidFill>
                  <a:srgbClr val="8A5A00"/>
                </a:solidFill>
              </a:rPr>
              <a:t>Medium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889055-FD5F-4CEF-A0FA-ED424C36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Start with the verified directory plus city decision workspace. They create the structured entity graph that every later product needs.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9EF75F-A1E4-4F98-A55D-F92DCFAE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0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GCC Atlas  |  Product Intern Assignment  |  04</a:t>
            </a:r>
          </a:p>
        </p:txBody>
      </p:sp>
    </p:spTree>
    <p:extLst>
      <p:ext uri="{BB962C8B-B14F-4D97-AF65-F5344CB8AC3E}">
        <p14:creationId xmlns:p14="http://schemas.microsoft.com/office/powerpoint/2010/main" val="13837896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4682FB-6B96-4E14-B8ED-024995FA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GCC Atlas turns scattered evidence into a decision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E0E4F-59C1-47BE-84D4-F8144837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The product stores the claim, the source, the confidence level, and the user’s decision context together.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B3539-9714-407F-9D20-9CED4CD1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52AE2-93BE-4B02-B854-7A70FB06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B8A9"/>
                </a:solidFill>
              </a:defRPr>
            </a:pPr>
            <a:r>
              <a:rPr sz="1200" b="1">
                <a:solidFill>
                  <a:srgbClr val="00B8A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7D0866-93A4-4624-B8F9-21E7528B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BDE26-4398-4912-8C02-CA0FE60C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Evidence intake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C36DC-19C7-436B-8BF9-6B5C6E7E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19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Government policies, company disclosures, research, and verified contributor inputs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8193B-A7A7-4C94-8045-A92CABC5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B8A9"/>
                </a:solidFill>
              </a:defRPr>
            </a:pPr>
            <a:r>
              <a:rPr sz="1200" b="1">
                <a:solidFill>
                  <a:srgbClr val="00B8A9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1A667-E373-4836-B68E-9C08E4B6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765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3D565-67D7-46F7-A4A7-750FFDD4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62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Entity 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43B9A9-5426-496E-9D09-984C5AB6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19450"/>
            <a:ext cx="219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Companies, centres, cities, providers, policies, and relationships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CAD95-222E-4B9C-9D37-03032C9B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38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B8A9"/>
                </a:solidFill>
              </a:defRPr>
            </a:pPr>
            <a:r>
              <a:rPr sz="1200" b="1">
                <a:solidFill>
                  <a:srgbClr val="00B8A9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1BFE7-2E52-4862-8CA8-75C564F8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765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F0D21-B914-4F79-8A48-CD3E3092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62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Decision workspace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B10E19-5698-472F-BAE6-70D51B56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19450"/>
            <a:ext cx="219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Search, compare cities, shortlist, annotate, and export an executive brief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B80FB8-98FB-4569-883B-C8B55334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38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0B8A9"/>
                </a:solidFill>
              </a:defRPr>
            </a:pPr>
            <a:r>
              <a:rPr sz="1200" b="1">
                <a:solidFill>
                  <a:srgbClr val="00B8A9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E3A469-DC18-4362-B7FC-DF5C3DC8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765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83BC6E-FEAD-488E-B583-46AD6AED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62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Trust loop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FA9BE3-5D83-4B56-8A0A-7EF59AFD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19450"/>
            <a:ext cx="219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Show sources, record freshness, invite corrections, and retain a change history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F4FCB4-25D5-4F75-AF45-93D4969B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C0BC6E-972B-45B4-BA1C-F6624BAA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The product promise: a recommendation should be inspectable, not merely persuasive.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F6033F-41FE-48F6-819D-3137CA10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0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GCC Atlas  |  Product Intern Assignment  |  05</a:t>
            </a:r>
          </a:p>
        </p:txBody>
      </p:sp>
    </p:spTree>
    <p:extLst>
      <p:ext uri="{BB962C8B-B14F-4D97-AF65-F5344CB8AC3E}">
        <p14:creationId xmlns:p14="http://schemas.microsoft.com/office/powerpoint/2010/main" val="6214029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7D4518-D06E-4F15-AC50-2205DCB1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The first user is the operator preparing an India location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869CD-BFF3-442B-971E-F1A0F96D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They need speed, confidence and a document that helps an executive committee decide.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99826-CCA0-41E4-9C29-1DCC72DC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594BE-DBBD-47D5-8D66-5E8D2937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3ECE4-D1C4-4652-8277-6336DD91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0D2F3-C011-4974-96CA-57DF496E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905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Define the scenario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57283-91BB-4A80-844E-106A6D78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28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Role mix, hiring horizon, entity model and decision criteria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71801-E697-4901-9218-38B925F9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B1A3C-87B2-4AA1-B5DB-C14481EC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4C67C-9427-41F5-A38B-BA40E740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19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Compare options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13673-EA46-47F5-89F7-148723B2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432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City scores with transparent weights and evidence coverage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B824FC-E883-40BD-A3C4-EEA94F2F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281653-508B-40F9-9C72-3F8F67CC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2B8A75-98A4-4F36-A048-9960EAFE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Validate the market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434F85-CD7F-4C27-8F92-86EB5169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57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Verified peers, relevant policies, notes and open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C32FE5-3F4B-47EC-BC3D-F94AFDB9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C924E1-8506-4324-80F9-2FE63651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EA7833-A5C2-4285-A696-556655F6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48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Export the 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DDCE09-ADDE-4680-89FE-2078710B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72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A short brief with citations and the evidence gaps still to resolve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16FBE1-828F-42D8-8758-B586CB44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Why this wedge works: a specific project creates a clear moment of need, while every workflow enriches the same evidence graph.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E41F5C-DAB4-458D-B907-8736D812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0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GCC Atlas  |  Product Intern Assignment  |  06</a:t>
            </a:r>
          </a:p>
        </p:txBody>
      </p:sp>
    </p:spTree>
    <p:extLst>
      <p:ext uri="{BB962C8B-B14F-4D97-AF65-F5344CB8AC3E}">
        <p14:creationId xmlns:p14="http://schemas.microsoft.com/office/powerpoint/2010/main" val="10150708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B68870-4EB8-467D-BBAC-9B0E21A4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Working prototype: a research-to-decision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89B12-DA9C-4E13-9DB0-4E9FFFD0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GCC Atlas already demonstrates the initial product loop in a working Next.js application.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DB48D-D8E5-4576-9E95-BEA4FBB0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B2AF3-CFDF-4362-9771-2F33139C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105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B514D-E2E9-440F-990C-C9DABB58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B6BD4-BE88-493D-88F3-D0294720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GCC Explorer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190DF-DC1A-4217-9181-3DD307C7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Search 30 curated company records by city, industry and function.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6902A-7B00-48F7-B403-5EDE9AFB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66900"/>
            <a:ext cx="5105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3D92C-1125-4D73-A800-85F3ADFD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6690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8CC9DE-003B-49DC-AD3F-4C785533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City Workspace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1E31AC-7BE5-46E8-AD1F-08C617E6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5270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Change criteria weights and see the city ranking update transparently.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D12F7-1AB1-4401-9C94-24A5B96B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5105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64D4D-7E3C-4B9E-A71F-7959D5DB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87F0E-1074-40E4-B5B4-EEE7184C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AI Research Copilot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51340-621E-439E-88BA-A57652D2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Ask questions against the local evidence set with source-linked replies.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2F8F84-FD6D-4A39-8AED-C443E4D3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5105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18671-885D-42D1-A906-3F99FB13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6DBB8-5867-47BE-B934-8B672858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481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Evidence Library and Shortlist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2ADF01-411D-49E2-B8FA-76BD676B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6720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Audit sources, save entities, add notes, and export a decision brief.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F3FF30-E84A-43C2-A99F-1C17B054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894426-6B66-4C4A-8417-FE7A832F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76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Demo path: Explorer, City Workspace, Research Copilot, then Shortlist export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2457EF-07F1-48B5-AF11-90578003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0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GCC Atlas  |  Product Intern Assignment  |  07</a:t>
            </a:r>
          </a:p>
        </p:txBody>
      </p:sp>
    </p:spTree>
    <p:extLst>
      <p:ext uri="{BB962C8B-B14F-4D97-AF65-F5344CB8AC3E}">
        <p14:creationId xmlns:p14="http://schemas.microsoft.com/office/powerpoint/2010/main" val="4933578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0B62CC-9B5A-4881-9182-FDC27A5D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Position GCC Atlas as the evidence layer beneath the ecosystem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0DDC0-2AB8-4C66-B86C-EE576D07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It complements advisors and providers by making their claims comparable and traceable.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D7E6E-357B-44E5-A6EB-9B6612AA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2DC8E-C2BD-46B3-86CD-1D9AB23D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For entering companies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D5DD5-20F2-4054-900E-A4E7B014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1DC12-7F8F-4F8D-8BA4-36E92493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19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Shorten research cycles. See the source behind each decision signal. Keep a reusable decision record.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B037F-CF51-4813-95A0-E9873BBE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00250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For service providers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A80BC-8E0D-4CBD-8BC9-CAEA1FCC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47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5AB7A-65A3-44AD-B80C-607E5835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52750"/>
            <a:ext cx="219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Earn discovery through verified delivery evidence. Convert marketing into credible proof.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B50EE1-DE5B-4331-A27B-C509D132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For governments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AF5E6-B9F2-4FB2-85B3-8389EF38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0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F109A-A8FD-4B68-82F2-52F35EC3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219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Make incentives comparable and measurable. See where policy information creates friction.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3A4384-F8CB-464D-A03C-EF51191A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For GCC leaders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37DAB-CC02-4522-AAAD-EAAA891B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47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6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75C168-214E-4C18-9961-88C47314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219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Benchmark peer moves and maintain a living view of the local market.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5DDE9E-266B-4FA7-9EBC-3C59AA57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DD47BE-5B9D-4C38-B91B-F2B0106E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530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Trust model: transparent methodology, source-level citations, confidence labels, freshness dates, and a correction path.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E59214-3D14-435C-8BF5-863978DC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0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GCC Atlas  |  Product Intern Assignment  |  08</a:t>
            </a:r>
          </a:p>
        </p:txBody>
      </p:sp>
    </p:spTree>
    <p:extLst>
      <p:ext uri="{BB962C8B-B14F-4D97-AF65-F5344CB8AC3E}">
        <p14:creationId xmlns:p14="http://schemas.microsoft.com/office/powerpoint/2010/main" val="5323103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94BED1-7A5C-45C6-AB38-5BAAFEDE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The moat comes from the evidence graph, not the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F436D-F714-428B-9796-40F4F2B2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A UI can be copied. A maintained network of claims, sources, entities and correction history compounds.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FCC17-026D-4F70-93C4-6DFBF0C6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339AC-2407-4786-94B6-FA7A6954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8478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E044C-451E-413A-A429-083AB30C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B8A9"/>
                </a:solidFill>
              </a:defRPr>
            </a:pPr>
            <a:r>
              <a:rPr sz="900" b="1">
                <a:solidFill>
                  <a:srgbClr val="00B8A9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87658-2B2F-4A64-AE5B-4456F2EF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860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149C6-70C0-4365-B6FC-132D19B1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334E68"/>
                </a:solidFill>
              </a:defRPr>
            </a:pPr>
            <a:r>
              <a:rPr sz="975" b="0">
                <a:solidFill>
                  <a:srgbClr val="334E68"/>
                </a:solidFill>
              </a:rPr>
              <a:t>“Karnataka offers a relevant GCC incentive”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B7E1F-EF66-4458-A346-7FF222A0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241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0B8A9"/>
                </a:solidFill>
              </a:defRPr>
            </a:pPr>
            <a:r>
              <a:rPr sz="1950" b="1">
                <a:solidFill>
                  <a:srgbClr val="00B8A9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4759B-892A-47BA-AA6B-817DEF83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81250"/>
            <a:ext cx="18478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C35E5-2324-4E57-9746-9E486C3A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7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B8A9"/>
                </a:solidFill>
              </a:defRPr>
            </a:pPr>
            <a:r>
              <a:rPr sz="900" b="1">
                <a:solidFill>
                  <a:srgbClr val="00B8A9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86A02-2658-4BF0-A6B2-D5700621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860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012E8-9C84-48DC-BD18-3A69E26A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385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334E68"/>
                </a:solidFill>
              </a:defRPr>
            </a:pPr>
            <a:r>
              <a:rPr sz="975" b="0">
                <a:solidFill>
                  <a:srgbClr val="334E68"/>
                </a:solidFill>
              </a:rPr>
              <a:t>Official policy page and publication 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CC74D-8BB7-4A97-975C-6FC58575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241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0B8A9"/>
                </a:solidFill>
              </a:defRPr>
            </a:pPr>
            <a:r>
              <a:rPr sz="1950" b="1">
                <a:solidFill>
                  <a:srgbClr val="00B8A9"/>
                </a:solidFill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C7FF9-C822-449F-B2BA-7EC24488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18478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68030-664D-488E-B6AB-E24304FA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7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B8A9"/>
                </a:solidFill>
              </a:defRPr>
            </a:pPr>
            <a:r>
              <a:rPr sz="900" b="1">
                <a:solidFill>
                  <a:srgbClr val="00B8A9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8B41A5-F178-41B4-A2E5-F8375858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860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Entity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5F8F7B-A57C-4B6A-8A18-4A8E4768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385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334E68"/>
                </a:solidFill>
              </a:defRPr>
            </a:pPr>
            <a:r>
              <a:rPr sz="975" b="0">
                <a:solidFill>
                  <a:srgbClr val="334E68"/>
                </a:solidFill>
              </a:rPr>
              <a:t>Policy, state, city, company and provider links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FEFF42-E497-45FF-A84B-6E873C46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241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0B8A9"/>
                </a:solidFill>
              </a:defRPr>
            </a:pPr>
            <a:r>
              <a:rPr sz="1950" b="1">
                <a:solidFill>
                  <a:srgbClr val="00B8A9"/>
                </a:solidFill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5731C9-4B57-458D-9049-EF2F7159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81250"/>
            <a:ext cx="18478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92B285-A385-4134-9B27-B7899509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7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B8A9"/>
                </a:solidFill>
              </a:defRPr>
            </a:pPr>
            <a:r>
              <a:rPr sz="900" b="1">
                <a:solidFill>
                  <a:srgbClr val="00B8A9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1E76A6-06DF-423F-8FC2-3BCAACF8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860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Judgement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2F5222-D04B-49FD-98C2-9F4C0A1D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385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334E68"/>
                </a:solidFill>
              </a:defRPr>
            </a:pPr>
            <a:r>
              <a:rPr sz="975" b="0">
                <a:solidFill>
                  <a:srgbClr val="334E68"/>
                </a:solidFill>
              </a:rPr>
              <a:t>Confidence, last checked date and limitations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4255DE-599A-4CBB-82C2-DDFB8963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241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0B8A9"/>
                </a:solidFill>
              </a:defRPr>
            </a:pPr>
            <a:r>
              <a:rPr sz="1950" b="1">
                <a:solidFill>
                  <a:srgbClr val="00B8A9"/>
                </a:solidFill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837366-B3A0-47AB-83CC-FC3E81CD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81250"/>
            <a:ext cx="18478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8CB639-3462-4A50-94F9-DC21ABCE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7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B8A9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B8A9"/>
                </a:solidFill>
              </a:defRPr>
            </a:pPr>
            <a:r>
              <a:rPr sz="900" b="1">
                <a:solidFill>
                  <a:srgbClr val="00B8A9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BDF35F-34F5-475C-888C-D3AF2976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860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Decision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079524-87B9-4E70-AB6A-FE105C99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385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334E68"/>
                </a:solidFill>
              </a:defRPr>
            </a:pPr>
            <a:r>
              <a:rPr sz="975" b="0">
                <a:solidFill>
                  <a:srgbClr val="334E68"/>
                </a:solidFill>
              </a:rPr>
              <a:t>Shortlist, scenario weights, internal note and exported brief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BE46B5-697D-4916-9D5D-06177228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Over time, contributors and users help close gaps. The platform earns trust by preserving uncertainty rather than hiding it.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554CE0-0317-46C4-BB7D-7FDDA491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0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GCC Atlas  |  Product Intern Assignment  |  09</a:t>
            </a:r>
          </a:p>
        </p:txBody>
      </p:sp>
    </p:spTree>
    <p:extLst>
      <p:ext uri="{BB962C8B-B14F-4D97-AF65-F5344CB8AC3E}">
        <p14:creationId xmlns:p14="http://schemas.microsoft.com/office/powerpoint/2010/main" val="13443990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BA71A5-B55E-4DF5-86D5-C57EFDBD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A focused 90-day plan turns the prototype into a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9C84B-4885-4024-A2DA-61FE8C9A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The immediate goal is to validate repeated decision workflows, not to build a generic database.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84FCD-2CD6-4763-A26C-802DA6F1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A7F6E-C88F-44BF-8E21-C44C3332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0509C-2F1C-43AB-A839-4FEB28E2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66900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Weeks 1–3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7D143-E96C-4FF6-9314-4F054515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669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Recruit 5 design partners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E3F47-4138-4408-85B2-CB165076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57450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Target companies considering a new India centre or a second city. Capture their actual decision documents.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9C421-91C7-41EF-9B27-9DD6DF21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D1B38-F644-4D0F-9F15-B25A5EA6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Weeks 4–7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CD75CF-3D29-4289-A99B-0851E044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480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Build the missing decision signals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BAE66-4B42-4066-B7E4-5C6E4726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38550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Add city-specific talent and office inputs only where the pilot workflow demands them.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596C0-A534-4DDF-906B-729E2FF5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0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7A9F56-7FA0-458F-B1F9-15855F3F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29100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Weeks 8–12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5FFB44-6CF8-4A50-8EA3-F4E4EED6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291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Run decision-room pilots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D1D4B2-4B49-41BF-84D7-60E1001B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819650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334E68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Measure time to shortlist, source coverage, correction rate, and executive brief reuse.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282F03-6EF0-45E8-ACF8-15A3D1D5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A11DFB-0E16-406D-A025-F8105F3A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245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Success metric: a pilot customer can explain and defend a location decision with less time and fewer unsupported claims.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207004-5F07-477E-B55A-8B3DE871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0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GCC Atlas  |  Product Intern Assignment  |  10</a:t>
            </a:r>
          </a:p>
        </p:txBody>
      </p:sp>
    </p:spTree>
    <p:extLst>
      <p:ext uri="{BB962C8B-B14F-4D97-AF65-F5344CB8AC3E}">
        <p14:creationId xmlns:p14="http://schemas.microsoft.com/office/powerpoint/2010/main" val="16397115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2026-10-12T17:39:22.7740000Z</dcterms:created>
  <dcterms:modified xsi:type="dcterms:W3CDTF">2026-10-12T17:39:22.7740000Z</dcterms:modified>
</coreProperties>
</file>